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3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2" userDrawn="1">
          <p15:clr>
            <a:srgbClr val="A4A3A4"/>
          </p15:clr>
        </p15:guide>
        <p15:guide id="2" pos="2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062"/>
        <p:guide pos="289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22833" y="892810"/>
            <a:ext cx="10698480" cy="753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300" b="1">
                <a:solidFill>
                  <a:srgbClr val="16222E"/>
                </a:solidFill>
                <a:latin typeface="Georgia" panose="02040502050405020303"/>
              </a:defRPr>
            </a:pPr>
            <a:r>
              <a:rPr lang="en-US" altLang="en-US">
                <a:solidFill>
                  <a:schemeClr val="tx1"/>
                </a:solidFill>
              </a:rPr>
              <a:t>Robotic Arms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803527"/>
            <a:ext cx="99669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406E9B"/>
                </a:solidFill>
                <a:latin typeface="Arial" panose="020B0604020202020204"/>
              </a:defRPr>
            </a:pPr>
            <a:r>
              <a:rPr sz="2800" b="1"/>
              <a:t>AI-Based Industrial Maintenance &amp; Process Optimization</a:t>
            </a:r>
            <a:endParaRPr sz="2800" b="1"/>
          </a:p>
        </p:txBody>
      </p:sp>
      <p:sp>
        <p:nvSpPr>
          <p:cNvPr id="8" name="TextBox 7"/>
          <p:cNvSpPr txBox="1"/>
          <p:nvPr/>
        </p:nvSpPr>
        <p:spPr>
          <a:xfrm>
            <a:off x="822960" y="3593591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3265" y="3395345"/>
            <a:ext cx="2574925" cy="5797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1250" b="1">
                <a:solidFill>
                  <a:srgbClr val="16222E"/>
                </a:solidFill>
                <a:latin typeface="Arial" panose="020B0604020202020204"/>
              </a:defRPr>
            </a:pPr>
            <a:r>
              <a:rPr sz="2400"/>
              <a:t>P</a:t>
            </a:r>
            <a:r>
              <a:rPr lang="en-IN" sz="2400"/>
              <a:t>resented By:</a:t>
            </a:r>
            <a:endParaRPr lang="en-IN" sz="2400"/>
          </a:p>
        </p:txBody>
      </p:sp>
      <p:sp>
        <p:nvSpPr>
          <p:cNvPr id="10" name="TextBox 9"/>
          <p:cNvSpPr txBox="1"/>
          <p:nvPr/>
        </p:nvSpPr>
        <p:spPr>
          <a:xfrm>
            <a:off x="5861050" y="3975100"/>
            <a:ext cx="5473700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20" b="0">
                <a:solidFill>
                  <a:srgbClr val="536880"/>
                </a:solidFill>
                <a:latin typeface="Arial" panose="020B0604020202020204"/>
              </a:defRPr>
            </a:pPr>
            <a:r>
              <a:rPr lang="en-IN" altLang="en-US" sz="2800"/>
              <a:t>1.Abhigyan Saini</a:t>
            </a:r>
            <a:endParaRPr lang="en-US" altLang="en-US" sz="2800"/>
          </a:p>
          <a:p>
            <a:pPr algn="l">
              <a:defRPr sz="1020" b="0">
                <a:solidFill>
                  <a:srgbClr val="536880"/>
                </a:solidFill>
                <a:latin typeface="Arial" panose="020B0604020202020204"/>
              </a:defRPr>
            </a:pPr>
            <a:r>
              <a:rPr lang="en-IN" sz="2800"/>
              <a:t>2.Ankitha KS</a:t>
            </a:r>
            <a:endParaRPr lang="en-IN" sz="2800"/>
          </a:p>
          <a:p>
            <a:pPr algn="l">
              <a:defRPr sz="1020" b="0">
                <a:solidFill>
                  <a:srgbClr val="536880"/>
                </a:solidFill>
                <a:latin typeface="Arial" panose="020B0604020202020204"/>
              </a:defRPr>
            </a:pPr>
            <a:r>
              <a:rPr lang="en-IN" sz="2800"/>
              <a:t>3.Azmeera Raghavendar</a:t>
            </a:r>
            <a:endParaRPr lang="en-IN" sz="2800"/>
          </a:p>
          <a:p>
            <a:pPr algn="l">
              <a:defRPr sz="1020" b="0">
                <a:solidFill>
                  <a:srgbClr val="536880"/>
                </a:solidFill>
                <a:latin typeface="Arial" panose="020B0604020202020204"/>
              </a:defRPr>
            </a:pPr>
            <a:r>
              <a:rPr lang="en-IN" sz="2800"/>
              <a:t>4.Esha yadav</a:t>
            </a:r>
            <a:endParaRPr lang="en-IN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lang="en-US" altLang="en-US"/>
              <a:t>Introduction</a:t>
            </a:r>
            <a:endParaRPr lang="en-US" altLang="en-US"/>
          </a:p>
        </p:txBody>
      </p:sp>
      <p:sp>
        <p:nvSpPr>
          <p:cNvPr id="15" name="Text Box 14"/>
          <p:cNvSpPr txBox="1"/>
          <p:nvPr/>
        </p:nvSpPr>
        <p:spPr>
          <a:xfrm>
            <a:off x="704215" y="1546225"/>
            <a:ext cx="10666095" cy="4664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/>
              <a:t>• Robotic arms are widely used in automotive assembly, welding, machining, and manufacturing.</a:t>
            </a:r>
            <a:endParaRPr lang="en-US" altLang="en-US" sz="2000"/>
          </a:p>
          <a:p>
            <a:r>
              <a:rPr lang="en-US" altLang="en-US" sz="2000"/>
              <a:t>• Continuous operation can lead to wear, overheating, vibration, and component degradation.</a:t>
            </a:r>
            <a:endParaRPr lang="en-US" altLang="en-US" sz="2000"/>
          </a:p>
          <a:p>
            <a:r>
              <a:rPr lang="en-US" altLang="en-US" sz="2000"/>
              <a:t>• Predictive maintenance uses machine data to identify potential problems before major failures occur.</a:t>
            </a:r>
            <a:endParaRPr lang="en-US" altLang="en-US" sz="2000"/>
          </a:p>
          <a:p>
            <a:r>
              <a:rPr lang="en-US" altLang="en-US" sz="2000"/>
              <a:t>• Important telemetry parameters include temperature, vibration, voltage, current, RPM, and pressure.</a:t>
            </a:r>
            <a:endParaRPr lang="en-US" altLang="en-US" sz="2000"/>
          </a:p>
          <a:p>
            <a:r>
              <a:rPr lang="en-US" altLang="en-US" sz="2000"/>
              <a:t>• Process intelligence converts machine and maintenance data into useful operational insights.</a:t>
            </a:r>
            <a:endParaRPr lang="en-US" altLang="en-US" sz="2000"/>
          </a:p>
          <a:p>
            <a:r>
              <a:rPr lang="en-US" altLang="en-US" sz="2000"/>
              <a:t>• Machine learning analyzes telemetry patterns to identify potential protective-stop or failure conditions.</a:t>
            </a:r>
            <a:endParaRPr lang="en-US" altLang="en-US" sz="2000"/>
          </a:p>
          <a:p>
            <a:r>
              <a:rPr lang="en-US" altLang="en-US" sz="2000"/>
              <a:t>• A centralized system helps monitor machines, predictions, maintenance, incidents, inventory, and notifications.</a:t>
            </a:r>
            <a:endParaRPr lang="en-US" altLang="en-US" sz="2000"/>
          </a:p>
          <a:p>
            <a:r>
              <a:rPr lang="en-US" altLang="en-US" sz="2000"/>
              <a:t>• FactoryOps AI integrates these capabilities into a single platform for intelligent robotic-arm monitoring and proactive maintenance.</a:t>
            </a:r>
            <a:endParaRPr lang="en-US" alt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62508" y="703707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Problem Statement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1343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1343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31343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480559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762635" y="1613535"/>
            <a:ext cx="9041130" cy="40411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/>
              <a:t>• Unexpected robotic-arm failures can cause production downtime and operational delays.</a:t>
            </a:r>
            <a:endParaRPr lang="en-US" altLang="en-US" sz="2000"/>
          </a:p>
          <a:p>
            <a:r>
              <a:rPr lang="en-US" altLang="en-US" sz="2000"/>
              <a:t>• Traditional scheduled maintenance may not detect developing faults at the right time.</a:t>
            </a:r>
            <a:endParaRPr lang="en-US" altLang="en-US" sz="2000"/>
          </a:p>
          <a:p>
            <a:r>
              <a:rPr lang="en-US" altLang="en-US" sz="2000"/>
              <a:t>• Continuous monitoring of machine parameters is difficult with manual observation.</a:t>
            </a:r>
            <a:endParaRPr lang="en-US" altLang="en-US" sz="2000"/>
          </a:p>
          <a:p>
            <a:r>
              <a:rPr lang="en-US" altLang="en-US" sz="2000"/>
              <a:t>• Abnormal temperature and vibration may indicate developing machine problems.</a:t>
            </a:r>
            <a:endParaRPr lang="en-US" altLang="en-US" sz="2000"/>
          </a:p>
          <a:p>
            <a:r>
              <a:rPr lang="en-US" altLang="en-US" sz="2000"/>
              <a:t>• Large amounts of telemetry data can be difficult to analyze manually.</a:t>
            </a:r>
            <a:endParaRPr lang="en-US" altLang="en-US" sz="2000"/>
          </a:p>
          <a:p>
            <a:r>
              <a:rPr lang="en-US" altLang="en-US" sz="2000"/>
              <a:t>• Maintenance teams may not have early indications of potential failures.</a:t>
            </a:r>
            <a:endParaRPr lang="en-US" altLang="en-US" sz="2000"/>
          </a:p>
          <a:p>
            <a:r>
              <a:rPr lang="en-US" altLang="en-US" sz="2000"/>
              <a:t>• Machine, maintenance, incident, and inventory information may be distributed across different records.</a:t>
            </a:r>
            <a:endParaRPr lang="en-US" altLang="en-US" sz="2000"/>
          </a:p>
          <a:p>
            <a:r>
              <a:rPr lang="en-US" altLang="en-US" sz="2000"/>
              <a:t>• A centralized system is needed to monitor robotic-arm health and support proactive maintenance.</a:t>
            </a:r>
            <a:endParaRPr lang="en-US" alt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21991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21991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5" y="2221991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96511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096511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750570" y="1622425"/>
            <a:ext cx="9237980" cy="3613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/>
              <a:t>• Develop a centralized platform for monitoring and managing robotic-arm operations.</a:t>
            </a:r>
            <a:endParaRPr lang="en-US" altLang="en-US" sz="2000"/>
          </a:p>
          <a:p>
            <a:r>
              <a:rPr lang="en-US" altLang="en-US" sz="2000"/>
              <a:t>• Collect and monitor important telemetry data from robotic-arm systems.</a:t>
            </a:r>
            <a:endParaRPr lang="en-US" altLang="en-US" sz="2000"/>
          </a:p>
          <a:p>
            <a:r>
              <a:rPr lang="en-US" altLang="en-US" sz="2000"/>
              <a:t>• Analyze parameters such as temperature, vibration, voltage, current, RPM, and pressure.</a:t>
            </a:r>
            <a:endParaRPr lang="en-US" altLang="en-US" sz="2000"/>
          </a:p>
          <a:p>
            <a:r>
              <a:rPr lang="en-US" altLang="en-US" sz="2000"/>
              <a:t>• Detect abnormal machine conditions using telemetry and operational data.</a:t>
            </a:r>
            <a:endParaRPr lang="en-US" altLang="en-US" sz="2000"/>
          </a:p>
          <a:p>
            <a:r>
              <a:rPr lang="en-US" altLang="en-US" sz="2000"/>
              <a:t>• Apply machine learning to predict potential protective-stop or failure conditions.</a:t>
            </a:r>
            <a:endParaRPr lang="en-US" altLang="en-US" sz="2000"/>
          </a:p>
          <a:p>
            <a:r>
              <a:rPr lang="en-US" altLang="en-US" sz="2000"/>
              <a:t>• Provide a dashboard for visualizing machine health and prediction results.</a:t>
            </a:r>
            <a:endParaRPr lang="en-US" altLang="en-US" sz="2000"/>
          </a:p>
          <a:p>
            <a:r>
              <a:rPr lang="en-US" altLang="en-US" sz="2000"/>
              <a:t>• Manage maintenance schedules, incidents, inventory, and operational notifications.</a:t>
            </a:r>
            <a:endParaRPr lang="en-US" altLang="en-US" sz="2000"/>
          </a:p>
          <a:p>
            <a:r>
              <a:rPr lang="en-US" altLang="en-US" sz="2000"/>
              <a:t>• Support proactive maintenance and data-driven decision-making for robotic-arm operations.</a:t>
            </a:r>
            <a:endParaRPr lang="en-US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9631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49631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249631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8903" y="249631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656590" y="1457960"/>
            <a:ext cx="9488805" cy="4958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/>
              <a:t>• FactoryOps AI provides a centralized platform for robotic-arm monitoring and maintenance management.</a:t>
            </a:r>
            <a:endParaRPr lang="en-US" altLang="en-US" sz="2000"/>
          </a:p>
          <a:p>
            <a:r>
              <a:rPr lang="en-US" altLang="en-US" sz="2000"/>
              <a:t>• The system collects machine telemetry data from different operational parameters.</a:t>
            </a:r>
            <a:endParaRPr lang="en-US" altLang="en-US" sz="2000"/>
          </a:p>
          <a:p>
            <a:r>
              <a:rPr lang="en-US" altLang="en-US" sz="2000"/>
              <a:t>• FastAPI processes requests and connects the frontend with the database and prediction services.</a:t>
            </a:r>
            <a:endParaRPr lang="en-US" altLang="en-US" sz="2000"/>
          </a:p>
          <a:p>
            <a:r>
              <a:rPr lang="en-US" altLang="en-US" sz="2000"/>
              <a:t>• Machine learning analyzes temperature and vibration data to identify potential failure conditions.</a:t>
            </a:r>
            <a:endParaRPr lang="en-US" altLang="en-US" sz="2000"/>
          </a:p>
          <a:p>
            <a:r>
              <a:rPr lang="en-US" altLang="en-US" sz="2000"/>
              <a:t>• The system displays machine health, telemetry trends, and prediction results through a dashboard.</a:t>
            </a:r>
            <a:endParaRPr lang="en-US" altLang="en-US" sz="2000"/>
          </a:p>
          <a:p>
            <a:r>
              <a:rPr lang="en-US" altLang="en-US" sz="2000"/>
              <a:t>• Maintenance records and schedules are managed to support proactive maintenance activities.</a:t>
            </a:r>
            <a:endParaRPr lang="en-US" altLang="en-US" sz="2000"/>
          </a:p>
          <a:p>
            <a:r>
              <a:rPr lang="en-US" altLang="en-US" sz="2000"/>
              <a:t>• Incidents, spare-parts inventory, and notifications are maintained within the same platform.</a:t>
            </a:r>
            <a:endParaRPr lang="en-US" altLang="en-US" sz="2000"/>
          </a:p>
          <a:p>
            <a:r>
              <a:rPr lang="en-US" altLang="en-US" sz="2000"/>
              <a:t>• The proposed system combines monitoring, prediction, and maintenance information for better operational visibility.</a:t>
            </a:r>
            <a:endParaRPr lang="en-US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257798" y="3051937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40487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18903" y="2404872"/>
            <a:ext cx="5669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 panose="020B0604020202020204"/>
              </a:defRPr>
            </a:pPr>
            <a:r>
              <a:t>04</a:t>
            </a:r>
          </a:p>
        </p:txBody>
      </p:sp>
      <p:sp>
        <p:nvSpPr>
          <p:cNvPr id="34" name="Text Box 33"/>
          <p:cNvSpPr txBox="1"/>
          <p:nvPr/>
        </p:nvSpPr>
        <p:spPr>
          <a:xfrm>
            <a:off x="577215" y="484505"/>
            <a:ext cx="42557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lang="en-IN" altLang="en-US"/>
              <a:t>System Architecture</a:t>
            </a:r>
            <a:endParaRPr lang="en-IN" altLang="en-US"/>
          </a:p>
        </p:txBody>
      </p:sp>
      <p:sp>
        <p:nvSpPr>
          <p:cNvPr id="36" name="Text Box 35"/>
          <p:cNvSpPr txBox="1"/>
          <p:nvPr/>
        </p:nvSpPr>
        <p:spPr>
          <a:xfrm>
            <a:off x="577215" y="1206500"/>
            <a:ext cx="10516235" cy="2367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• User Layer – Operators and maintenance engineers interact with the system.</a:t>
            </a:r>
            <a:endParaRPr lang="en-US" altLang="en-US"/>
          </a:p>
          <a:p>
            <a:r>
              <a:rPr lang="en-US" altLang="en-US"/>
              <a:t>• Streamlit Frontend – Provides login, dashboard, machine monitoring, telemetry, predictions, and maintenance modules.</a:t>
            </a:r>
            <a:endParaRPr lang="en-US" altLang="en-US"/>
          </a:p>
          <a:p>
            <a:r>
              <a:rPr lang="en-US" altLang="en-US"/>
              <a:t>• FastAPI Backend – Handles authentication, REST APIs, request validation, and business logic.</a:t>
            </a:r>
            <a:endParaRPr lang="en-US" altLang="en-US"/>
          </a:p>
          <a:p>
            <a:r>
              <a:rPr lang="en-US" altLang="en-US"/>
              <a:t>• Database Layer – SQLite with SQLAlchemy manages machine, telemetry, maintenance, and incident data.</a:t>
            </a:r>
            <a:endParaRPr lang="en-US" altLang="en-US"/>
          </a:p>
          <a:p>
            <a:r>
              <a:rPr lang="en-US" altLang="en-US"/>
              <a:t>• ML Processing Layer – Processes telemetry data using the trained Random Forest model.</a:t>
            </a:r>
            <a:endParaRPr lang="en-US" altLang="en-US"/>
          </a:p>
          <a:p>
            <a:r>
              <a:rPr lang="en-US" altLang="en-US"/>
              <a:t>• Prediction Engine – Classifies machine conditions into Normal, Possible Failure, or High Risk.</a:t>
            </a:r>
            <a:endParaRPr lang="en-US" altLang="en-US"/>
          </a:p>
          <a:p>
            <a:r>
              <a:rPr lang="en-US" altLang="en-US"/>
              <a:t>• Results Layer – Returns machine health, predictions, alerts, and maintenance information.</a:t>
            </a:r>
            <a:endParaRPr lang="en-US" altLang="en-US"/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310" y="3573780"/>
            <a:ext cx="10859770" cy="3119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t>07</a:t>
            </a:r>
          </a:p>
        </p:txBody>
      </p:sp>
      <p:sp>
        <p:nvSpPr>
          <p:cNvPr id="41" name="Text Box 40"/>
          <p:cNvSpPr txBox="1"/>
          <p:nvPr/>
        </p:nvSpPr>
        <p:spPr>
          <a:xfrm>
            <a:off x="773430" y="1680845"/>
            <a:ext cx="8509000" cy="25888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 sz="2000"/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473710" y="1320165"/>
          <a:ext cx="11243945" cy="6836410"/>
        </p:xfrm>
        <a:graphic>
          <a:graphicData uri="http://schemas.openxmlformats.org/drawingml/2006/table">
            <a:tbl>
              <a:tblPr/>
              <a:tblGrid>
                <a:gridCol w="3331210"/>
                <a:gridCol w="1932305"/>
                <a:gridCol w="5980430"/>
              </a:tblGrid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Category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Technology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Purpose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Frontend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Streamlit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Provides the interactive web dashboard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Backend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Python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Handles API requests and application logic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Programming Language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Python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Used for frontend, backend, ML, and data processing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Machine Learning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Scikit-learn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Model training and prediction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ML Model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Random forest      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Used for predictive classification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Model Storage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Pickle (.pkl)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Stores and loads the trained ML model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Database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SQLite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Stores application data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Database ORM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SQLAlchemy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Provides database interaction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</a:rPr>
                        <a:t>Data Processing</a:t>
                      </a: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Pandas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</a:rPr>
                        <a:t>Data loading, cleaning, and preprocessing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  <a:sym typeface="+mn-ea"/>
                        </a:rPr>
                        <a:t>Development</a:t>
                      </a:r>
                      <a:r>
                        <a:rPr lang="en-IN" sz="2000" b="1">
                          <a:latin typeface="Times New Roman" panose="02020603050405020304"/>
                          <a:ea typeface="Calibri" panose="020F0502020204030204"/>
                          <a:sym typeface="+mn-ea"/>
                        </a:rPr>
                        <a:t> </a:t>
                      </a:r>
                      <a:r>
                        <a:rPr sz="2000" b="1">
                          <a:latin typeface="Times New Roman" panose="02020603050405020304"/>
                          <a:ea typeface="Calibri" panose="020F0502020204030204"/>
                          <a:sym typeface="+mn-ea"/>
                        </a:rPr>
                        <a:t>Environment</a:t>
                      </a:r>
                      <a:endParaRPr lang="en-IN" sz="2000" b="1">
                        <a:latin typeface="Times New Roman" panose="02020603050405020304"/>
                        <a:ea typeface="Calibri" panose="020F0502020204030204"/>
                        <a:sym typeface="+mn-ea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  <a:sym typeface="+mn-ea"/>
                        </a:rPr>
                        <a:t>VS Code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r>
                        <a:rPr sz="2000">
                          <a:latin typeface="Times New Roman" panose="02020603050405020304"/>
                          <a:ea typeface="Calibri" panose="020F0502020204030204"/>
                          <a:sym typeface="+mn-ea"/>
                        </a:rPr>
                        <a:t>Project development and testing</a:t>
                      </a: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88315"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 b="1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40005" indent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ts val="800"/>
                        </a:spcAft>
                      </a:pPr>
                      <a:endParaRPr sz="2000">
                        <a:latin typeface="Times New Roman" panose="02020603050405020304"/>
                        <a:ea typeface="Calibri" panose="020F0502020204030204"/>
                      </a:endParaRPr>
                    </a:p>
                  </a:txBody>
                  <a:tcPr marL="9525" marR="9525" marT="9525" marB="9525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lang="en-US" altLang="en-US"/>
              <a:t>Frontend Implementation</a:t>
            </a:r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t>08</a:t>
            </a:r>
          </a:p>
        </p:txBody>
      </p:sp>
      <p:sp>
        <p:nvSpPr>
          <p:cNvPr id="46" name="Text Box 45"/>
          <p:cNvSpPr txBox="1"/>
          <p:nvPr/>
        </p:nvSpPr>
        <p:spPr>
          <a:xfrm>
            <a:off x="744855" y="1367790"/>
            <a:ext cx="9169400" cy="1627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/>
              <a:t>• Design an interactive Landing Page to introduce RoboPulse AI.</a:t>
            </a:r>
            <a:endParaRPr lang="en-US" altLang="en-US" sz="2000"/>
          </a:p>
          <a:p>
            <a:r>
              <a:rPr lang="en-US" altLang="en-US" sz="2000"/>
              <a:t>• Implement a secure Login / Signup Page for user authentication.</a:t>
            </a:r>
            <a:endParaRPr lang="en-US" altLang="en-US" sz="2000"/>
          </a:p>
          <a:p>
            <a:r>
              <a:rPr lang="en-US" altLang="en-US" sz="2000"/>
              <a:t>• Develop a centralized Dashboard for machine health and system monitoring.</a:t>
            </a:r>
            <a:endParaRPr lang="en-US" altLang="en-US" sz="2000"/>
          </a:p>
          <a:p>
            <a:r>
              <a:rPr lang="en-US" altLang="en-US" sz="2000"/>
              <a:t>• Provide interactive Monitoring Modules for telemetry, predictions, maintenance, and incidents.</a:t>
            </a:r>
            <a:endParaRPr lang="en-US" altLang="en-US" sz="2000"/>
          </a:p>
        </p:txBody>
      </p:sp>
      <p:pic>
        <p:nvPicPr>
          <p:cNvPr id="10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820" y="2938145"/>
            <a:ext cx="10145395" cy="3234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lang="en-US" altLang="en-US"/>
              <a:t>Dashboard &amp; User Interface</a:t>
            </a:r>
            <a:endParaRPr lang="en-US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t>09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678815" y="1196340"/>
            <a:ext cx="10023475" cy="2232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000"/>
              <a:t>• User Authentication – Provides secure login and signup for authorized users.</a:t>
            </a:r>
            <a:endParaRPr lang="en-US" altLang="en-US" sz="2000"/>
          </a:p>
          <a:p>
            <a:pPr algn="just"/>
            <a:r>
              <a:rPr lang="en-US" altLang="en-US" sz="2000"/>
              <a:t>• Machine Dashboard – Displays machine health, status, and operational information.</a:t>
            </a:r>
            <a:endParaRPr lang="en-US" altLang="en-US" sz="2000"/>
          </a:p>
          <a:p>
            <a:pPr algn="just"/>
            <a:r>
              <a:rPr lang="en-US" altLang="en-US" sz="2000"/>
              <a:t>• Telemetry Visualization – Presents temperature, vibration, pressure, RPM, and other sensor data using interactive charts.</a:t>
            </a:r>
            <a:endParaRPr lang="en-US" altLang="en-US" sz="2000"/>
          </a:p>
          <a:p>
            <a:pPr algn="just"/>
            <a:r>
              <a:rPr lang="en-US" altLang="en-US" sz="2000"/>
              <a:t>• AI/ML Predictions – Shows machine risk levels and potential protective-stop predictions.</a:t>
            </a:r>
            <a:endParaRPr lang="en-US" altLang="en-US" sz="2000"/>
          </a:p>
          <a:p>
            <a:pPr algn="just"/>
            <a:r>
              <a:rPr lang="en-US" altLang="en-US" sz="2000"/>
              <a:t>• Maintenance &amp; Alerts – Tracks maintenance activities, incidents, inventory, and system notifications.</a:t>
            </a:r>
            <a:endParaRPr lang="en-US" altLang="en-US" sz="2000"/>
          </a:p>
        </p:txBody>
      </p:sp>
      <p:pic>
        <p:nvPicPr>
          <p:cNvPr id="11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430" y="3429000"/>
            <a:ext cx="10829925" cy="2889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Backend &amp; REST 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5248655"/>
            <a:ext cx="93268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20" b="0">
                <a:solidFill>
                  <a:srgbClr val="536880"/>
                </a:solidFill>
                <a:latin typeface="Arial" panose="020B0604020202020204"/>
              </a:defRPr>
            </a:pPr>
          </a:p>
        </p:txBody>
      </p:sp>
      <p:sp>
        <p:nvSpPr>
          <p:cNvPr id="60" name="Text Box 59"/>
          <p:cNvSpPr txBox="1"/>
          <p:nvPr/>
        </p:nvSpPr>
        <p:spPr>
          <a:xfrm>
            <a:off x="693420" y="1671320"/>
            <a:ext cx="10507980" cy="4070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>
                <a:cs typeface="+mn-lt"/>
                <a:sym typeface="+mn-ea"/>
              </a:rPr>
              <a:t>•</a:t>
            </a:r>
            <a:r>
              <a:rPr lang="en-IN" altLang="en-US" sz="2000" b="1">
                <a:cs typeface="+mn-lt"/>
              </a:rPr>
              <a:t> </a:t>
            </a:r>
            <a:r>
              <a:rPr lang="en-US" altLang="en-US" sz="2000" b="1">
                <a:cs typeface="+mn-lt"/>
              </a:rPr>
              <a:t>FastAPI REST Backend</a:t>
            </a:r>
            <a:r>
              <a:rPr lang="en-US" altLang="en-US" sz="2000">
                <a:cs typeface="+mn-lt"/>
              </a:rPr>
              <a:t> – Provides the API layer that connects the Streamlit frontend with the backend services.</a:t>
            </a:r>
            <a:endParaRPr lang="en-US" altLang="en-US" sz="2000">
              <a:cs typeface="+mn-lt"/>
            </a:endParaRPr>
          </a:p>
          <a:p>
            <a:r>
              <a:rPr lang="en-US" altLang="en-US" sz="2000">
                <a:cs typeface="+mn-lt"/>
                <a:sym typeface="+mn-ea"/>
              </a:rPr>
              <a:t>•</a:t>
            </a:r>
            <a:r>
              <a:rPr lang="en-IN" altLang="en-US" sz="2000">
                <a:cs typeface="+mn-lt"/>
                <a:sym typeface="+mn-ea"/>
              </a:rPr>
              <a:t> </a:t>
            </a:r>
            <a:r>
              <a:rPr lang="en-US" altLang="en-US" sz="2000" b="1">
                <a:cs typeface="+mn-lt"/>
              </a:rPr>
              <a:t>API Routing –</a:t>
            </a:r>
            <a:r>
              <a:rPr lang="en-US" altLang="en-US" sz="2000">
                <a:cs typeface="+mn-lt"/>
              </a:rPr>
              <a:t> Handles endpoints for machines, telemetry, predictions, maintenance, incidents, and notifications.</a:t>
            </a:r>
            <a:endParaRPr lang="en-US" altLang="en-US" sz="2000">
              <a:cs typeface="+mn-lt"/>
            </a:endParaRPr>
          </a:p>
          <a:p>
            <a:r>
              <a:rPr lang="en-US" altLang="en-US" sz="2000">
                <a:cs typeface="+mn-lt"/>
                <a:sym typeface="+mn-ea"/>
              </a:rPr>
              <a:t>•</a:t>
            </a:r>
            <a:r>
              <a:rPr lang="en-IN" altLang="en-US" sz="2000" b="1">
                <a:cs typeface="+mn-lt"/>
              </a:rPr>
              <a:t> </a:t>
            </a:r>
            <a:r>
              <a:rPr lang="en-US" altLang="en-US" sz="2000" b="1">
                <a:cs typeface="+mn-lt"/>
              </a:rPr>
              <a:t>Request Validation – </a:t>
            </a:r>
            <a:r>
              <a:rPr lang="en-US" altLang="en-US" sz="2000">
                <a:cs typeface="+mn-lt"/>
              </a:rPr>
              <a:t>Uses Pydantic to validate incoming data and ensure correct request/response formats.</a:t>
            </a:r>
            <a:endParaRPr lang="en-US" altLang="en-US" sz="2000">
              <a:cs typeface="+mn-lt"/>
            </a:endParaRPr>
          </a:p>
          <a:p>
            <a:r>
              <a:rPr lang="en-US" altLang="en-US" sz="2000">
                <a:cs typeface="+mn-lt"/>
                <a:sym typeface="+mn-ea"/>
              </a:rPr>
              <a:t>•</a:t>
            </a:r>
            <a:r>
              <a:rPr lang="en-IN" altLang="en-US" sz="2000" b="1">
                <a:cs typeface="+mn-lt"/>
              </a:rPr>
              <a:t> </a:t>
            </a:r>
            <a:r>
              <a:rPr lang="en-US" altLang="en-US" sz="2000" b="1">
                <a:cs typeface="+mn-lt"/>
              </a:rPr>
              <a:t>Database Communication –</a:t>
            </a:r>
            <a:r>
              <a:rPr lang="en-US" altLang="en-US" sz="2000">
                <a:cs typeface="+mn-lt"/>
              </a:rPr>
              <a:t> Uses SQLAlchemy with SQLite to store and retrieve machine, telemetry, maintenance, and prediction data.</a:t>
            </a:r>
            <a:endParaRPr lang="en-US" altLang="en-US" sz="2000">
              <a:cs typeface="+mn-lt"/>
            </a:endParaRPr>
          </a:p>
          <a:p>
            <a:r>
              <a:rPr lang="en-US" altLang="en-US" sz="2000">
                <a:cs typeface="+mn-lt"/>
                <a:sym typeface="+mn-ea"/>
              </a:rPr>
              <a:t>•</a:t>
            </a:r>
            <a:r>
              <a:rPr lang="en-IN" altLang="en-US" sz="2000" b="1">
                <a:cs typeface="+mn-lt"/>
              </a:rPr>
              <a:t> </a:t>
            </a:r>
            <a:r>
              <a:rPr lang="en-US" altLang="en-US" sz="2000" b="1">
                <a:cs typeface="+mn-lt"/>
              </a:rPr>
              <a:t>AI/ML Integration –</a:t>
            </a:r>
            <a:r>
              <a:rPr lang="en-US" altLang="en-US" sz="2000">
                <a:cs typeface="+mn-lt"/>
              </a:rPr>
              <a:t> Processes machine telemetry through the prediction service to determine failure risk, health status, and remaining useful life.</a:t>
            </a:r>
            <a:endParaRPr lang="en-US" altLang="en-US" sz="2000">
              <a:cs typeface="+mn-lt"/>
            </a:endParaRPr>
          </a:p>
          <a:p>
            <a:r>
              <a:rPr lang="en-US" altLang="en-US" sz="2000">
                <a:cs typeface="+mn-lt"/>
                <a:sym typeface="+mn-ea"/>
              </a:rPr>
              <a:t>•</a:t>
            </a:r>
            <a:r>
              <a:rPr lang="en-IN" altLang="en-US" sz="2000" b="1">
                <a:cs typeface="+mn-lt"/>
              </a:rPr>
              <a:t> </a:t>
            </a:r>
            <a:r>
              <a:rPr lang="en-US" altLang="en-US" sz="2000" b="1">
                <a:cs typeface="+mn-lt"/>
              </a:rPr>
              <a:t>JSON Response –</a:t>
            </a:r>
            <a:r>
              <a:rPr lang="en-US" altLang="en-US" sz="2000">
                <a:cs typeface="+mn-lt"/>
              </a:rPr>
              <a:t> FastAPI sends processed results and prediction data back to the Streamlit frontend in JSON format.</a:t>
            </a:r>
            <a:endParaRPr lang="en-US" altLang="en-US" sz="2000">
              <a:cs typeface="+mn-lt"/>
            </a:endParaRPr>
          </a:p>
          <a:p>
            <a:r>
              <a:rPr lang="en-US" altLang="en-US" sz="2000">
                <a:cs typeface="+mn-lt"/>
                <a:sym typeface="+mn-ea"/>
              </a:rPr>
              <a:t>•</a:t>
            </a:r>
            <a:r>
              <a:rPr lang="en-IN" altLang="en-US" sz="2000" b="1">
                <a:cs typeface="+mn-lt"/>
              </a:rPr>
              <a:t> </a:t>
            </a:r>
            <a:r>
              <a:rPr lang="en-US" altLang="en-US" sz="2000" b="1">
                <a:cs typeface="+mn-lt"/>
              </a:rPr>
              <a:t>API Flow –</a:t>
            </a:r>
            <a:r>
              <a:rPr lang="en-US" altLang="en-US" sz="2000">
                <a:cs typeface="+mn-lt"/>
              </a:rPr>
              <a:t> Streamlit → HTTP Request → FastAPI → Business Logic → Database/ML → JSON Response → </a:t>
            </a:r>
            <a:r>
              <a:rPr lang="en-IN" altLang="en-US" sz="2000">
                <a:cs typeface="+mn-lt"/>
              </a:rPr>
              <a:t>    </a:t>
            </a:r>
            <a:r>
              <a:rPr lang="en-US" altLang="en-US" sz="2000">
                <a:cs typeface="+mn-lt"/>
              </a:rPr>
              <a:t>Streamlit Dashboard.</a:t>
            </a:r>
            <a:endParaRPr lang="en-US" altLang="en-US" sz="2000">
              <a:cs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Database Design</a:t>
            </a:r>
          </a:p>
        </p:txBody>
      </p:sp>
      <p:sp>
        <p:nvSpPr>
          <p:cNvPr id="54" name="Text Box 53"/>
          <p:cNvSpPr txBox="1"/>
          <p:nvPr/>
        </p:nvSpPr>
        <p:spPr>
          <a:xfrm>
            <a:off x="828040" y="1494155"/>
            <a:ext cx="8759190" cy="3698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000"/>
              <a:t>• SQLite is used as the primary database for the RoboPulse AI system.</a:t>
            </a:r>
            <a:endParaRPr lang="en-US" altLang="en-US" sz="2000"/>
          </a:p>
          <a:p>
            <a:pPr algn="just"/>
            <a:r>
              <a:rPr lang="en-US" altLang="en-US" sz="2000"/>
              <a:t>• SQLAlchemy ORM manages communication between the application and database.</a:t>
            </a:r>
            <a:endParaRPr lang="en-US" altLang="en-US" sz="2000"/>
          </a:p>
          <a:p>
            <a:pPr algn="just"/>
            <a:r>
              <a:rPr lang="en-US" altLang="en-US" sz="2000"/>
              <a:t>• Robot/Machine data contains machine name, location, and operating status.</a:t>
            </a:r>
            <a:endParaRPr lang="en-US" altLang="en-US" sz="2000"/>
          </a:p>
          <a:p>
            <a:pPr algn="just"/>
            <a:r>
              <a:rPr lang="en-US" altLang="en-US" sz="2000"/>
              <a:t>• Telemetry data captures temperature, vibration, pressure, voltage, current, and </a:t>
            </a:r>
            <a:r>
              <a:rPr lang="en-IN" altLang="en-US" sz="2000"/>
              <a:t>   </a:t>
            </a:r>
            <a:r>
              <a:rPr lang="en-US" altLang="en-US" sz="2000"/>
              <a:t>RPM.</a:t>
            </a:r>
            <a:endParaRPr lang="en-US" altLang="en-US" sz="2000"/>
          </a:p>
          <a:p>
            <a:pPr algn="just"/>
            <a:r>
              <a:rPr lang="en-US" altLang="en-US" sz="2000"/>
              <a:t>• Prediction records include failure prediction, risk level, probability, and timestamp.</a:t>
            </a:r>
            <a:endParaRPr lang="en-US" altLang="en-US" sz="2000"/>
          </a:p>
          <a:p>
            <a:pPr algn="just"/>
            <a:r>
              <a:rPr lang="en-US" altLang="en-US" sz="2000"/>
              <a:t>• Maintenance records help manage maintenance schedules, activities, and status.</a:t>
            </a:r>
            <a:endParaRPr lang="en-US" altLang="en-US" sz="2000"/>
          </a:p>
          <a:p>
            <a:pPr algn="just"/>
            <a:r>
              <a:rPr lang="en-US" altLang="en-US" sz="2000"/>
              <a:t>• Incident records provide details about incidents, severity, descriptions, and dates.</a:t>
            </a:r>
            <a:endParaRPr lang="en-US" altLang="en-US" sz="2000"/>
          </a:p>
          <a:p>
            <a:pPr algn="just"/>
            <a:r>
              <a:rPr lang="en-US" altLang="en-US" sz="2000"/>
              <a:t>• Centralized database access connects monitoring, prediction, maintenance, and dashboard modules.</a:t>
            </a:r>
            <a:endParaRPr lang="en-US" altLang="en-US" sz="2000"/>
          </a:p>
          <a:p>
            <a:pPr algn="just"/>
            <a:r>
              <a:rPr lang="en-US" altLang="en-US" sz="2000">
                <a:sym typeface="+mn-ea"/>
              </a:rPr>
              <a:t>• </a:t>
            </a:r>
            <a:r>
              <a:rPr lang="en-US" altLang="en-US" sz="2000" b="1"/>
              <a:t>Data Flow:</a:t>
            </a:r>
            <a:r>
              <a:rPr lang="en-US" altLang="en-US" sz="2000"/>
              <a:t> FastAPI → SQLAlchemy → SQLite → Retrieved Data → AI/ML Analysis → Streamlit Dashboard.</a:t>
            </a:r>
            <a:endParaRPr lang="en-US" altLang="en-US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AI/ML Prediction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t>12</a:t>
            </a:r>
          </a:p>
        </p:txBody>
      </p:sp>
      <p:sp>
        <p:nvSpPr>
          <p:cNvPr id="35" name="Text Box 34"/>
          <p:cNvSpPr txBox="1"/>
          <p:nvPr/>
        </p:nvSpPr>
        <p:spPr>
          <a:xfrm>
            <a:off x="785495" y="1515745"/>
            <a:ext cx="8662670" cy="2118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/>
              <a:t>• Scikit-learn is used to develop the machine learning model.</a:t>
            </a:r>
            <a:endParaRPr lang="en-US" altLang="en-US" sz="2000"/>
          </a:p>
          <a:p>
            <a:r>
              <a:rPr lang="en-US" altLang="en-US" sz="2000"/>
              <a:t>• Temperature and Vibration Intensity are used as key input features.</a:t>
            </a:r>
            <a:endParaRPr lang="en-US" altLang="en-US" sz="2000"/>
          </a:p>
          <a:p>
            <a:r>
              <a:rPr lang="en-US" altLang="en-US" sz="2000"/>
              <a:t>• Logistic Regression, Decision Tree, and Random Forest models were compared.</a:t>
            </a:r>
            <a:endParaRPr lang="en-US" altLang="en-US" sz="2000"/>
          </a:p>
          <a:p>
            <a:r>
              <a:rPr lang="en-US" altLang="en-US" sz="2000"/>
              <a:t>• Random Forest Classifier is used for the final prediction.</a:t>
            </a:r>
            <a:endParaRPr lang="en-US" altLang="en-US" sz="2000"/>
          </a:p>
          <a:p>
            <a:r>
              <a:rPr lang="en-US" altLang="en-US" sz="2000"/>
              <a:t>• The model learns patterns from historical machine telemetry data.</a:t>
            </a:r>
            <a:endParaRPr lang="en-US" altLang="en-US" sz="2000"/>
          </a:p>
          <a:p>
            <a:r>
              <a:rPr lang="en-US" altLang="en-US" sz="2000"/>
              <a:t>• It identifies machine conditions associated with potential protective-stop events.</a:t>
            </a:r>
            <a:endParaRPr lang="en-US" altLang="en-US" sz="2000"/>
          </a:p>
          <a:p>
            <a:r>
              <a:rPr lang="en-US" altLang="en-US" sz="2000"/>
              <a:t>• Prediction results are classified as Normal, Possible Failure, or High Risk.</a:t>
            </a:r>
            <a:endParaRPr lang="en-US" altLang="en-US" sz="2000"/>
          </a:p>
          <a:p>
            <a:endParaRPr lang="en-US" altLang="en-US" sz="2000"/>
          </a:p>
        </p:txBody>
      </p:sp>
      <p:pic>
        <p:nvPicPr>
          <p:cNvPr id="14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495" y="3147695"/>
            <a:ext cx="10827385" cy="3435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Prediction &amp; 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30175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536880"/>
                </a:solidFill>
                <a:latin typeface="Arial" panose="020B0604020202020204"/>
              </a:defRPr>
            </a:pPr>
            <a:r>
              <a:t>13</a:t>
            </a:r>
          </a:p>
        </p:txBody>
      </p:sp>
      <p:sp>
        <p:nvSpPr>
          <p:cNvPr id="24" name="Text Box 23"/>
          <p:cNvSpPr txBox="1"/>
          <p:nvPr/>
        </p:nvSpPr>
        <p:spPr>
          <a:xfrm>
            <a:off x="607695" y="1668780"/>
            <a:ext cx="5488305" cy="4612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• Machine Data – Collects temperature, vibration, and other telemetry parameters.</a:t>
            </a:r>
            <a:endParaRPr lang="en-US" altLang="en-US"/>
          </a:p>
          <a:p>
            <a:r>
              <a:rPr lang="en-US" altLang="en-US"/>
              <a:t>• Feature Extraction – Selects relevant sensor features for prediction.</a:t>
            </a:r>
            <a:endParaRPr lang="en-US" altLang="en-US"/>
          </a:p>
          <a:p>
            <a:r>
              <a:rPr lang="en-US" altLang="en-US"/>
              <a:t>• Data Preprocessing – Converts the collected values into model-ready input.</a:t>
            </a:r>
            <a:endParaRPr lang="en-US" altLang="en-US"/>
          </a:p>
          <a:p>
            <a:r>
              <a:rPr lang="en-US" altLang="en-US"/>
              <a:t>• Random Forest Model – Analyzes the input data using the trained ML model.</a:t>
            </a:r>
            <a:endParaRPr lang="en-US" altLang="en-US"/>
          </a:p>
          <a:p>
            <a:r>
              <a:rPr lang="en-US" altLang="en-US"/>
              <a:t>• Risk Classification – Determines the machine condition based on the prediction.</a:t>
            </a:r>
            <a:endParaRPr lang="en-US" altLang="en-US"/>
          </a:p>
          <a:p>
            <a:r>
              <a:rPr lang="en-US" altLang="en-US"/>
              <a:t>• Prediction Result – Generates Normal, Possible Failure, or High Risk status.</a:t>
            </a:r>
            <a:endParaRPr lang="en-US" altLang="en-US"/>
          </a:p>
          <a:p>
            <a:r>
              <a:rPr lang="en-US" altLang="en-US"/>
              <a:t>• Backend Processing – FastAPI processes the prediction request and response.</a:t>
            </a:r>
            <a:endParaRPr lang="en-US" altLang="en-US"/>
          </a:p>
          <a:p>
            <a:r>
              <a:rPr lang="en-US" altLang="en-US"/>
              <a:t>• Dashboard Display – Presents the prediction and risk information to the user.</a:t>
            </a:r>
            <a:endParaRPr lang="en-US" alt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1104900"/>
            <a:ext cx="5502910" cy="53911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rPr lang="en-US" altLang="en-US"/>
              <a:t>System Results</a:t>
            </a:r>
            <a:endParaRPr lang="en-US" altLang="en-US"/>
          </a:p>
        </p:txBody>
      </p:sp>
      <p:sp>
        <p:nvSpPr>
          <p:cNvPr id="44" name="Text Box 43"/>
          <p:cNvSpPr txBox="1"/>
          <p:nvPr/>
        </p:nvSpPr>
        <p:spPr>
          <a:xfrm>
            <a:off x="567055" y="1433830"/>
            <a:ext cx="6271895" cy="38881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• Machine Monitoring – Successfully displays machine status, health, and operational conditions.</a:t>
            </a:r>
            <a:endParaRPr lang="en-US" altLang="en-US"/>
          </a:p>
          <a:p>
            <a:r>
              <a:rPr lang="en-US" altLang="en-US"/>
              <a:t>• Telemetry Analysis – Visualizes sensor parameters such as temperature, vibration, pressure, RPM, and humidity.</a:t>
            </a:r>
            <a:endParaRPr lang="en-US" altLang="en-US"/>
          </a:p>
          <a:p>
            <a:r>
              <a:rPr lang="en-US" altLang="en-US"/>
              <a:t>• AI-Based Prediction – Generates machine risk levels using the trained Random Forest model.</a:t>
            </a:r>
            <a:endParaRPr lang="en-US" altLang="en-US"/>
          </a:p>
          <a:p>
            <a:r>
              <a:rPr lang="en-US" altLang="en-US"/>
              <a:t>• Risk Classification – Categorizes machine conditions into Normal, Possible Failure, and High Risk.</a:t>
            </a:r>
            <a:endParaRPr lang="en-US" altLang="en-US"/>
          </a:p>
          <a:p>
            <a:r>
              <a:rPr lang="en-US" altLang="en-US"/>
              <a:t>• Maintenance Tracking – Monitors maintenance schedules and maintenance status.</a:t>
            </a:r>
            <a:endParaRPr lang="en-US" altLang="en-US"/>
          </a:p>
          <a:p>
            <a:r>
              <a:rPr lang="en-US" altLang="en-US"/>
              <a:t>• Incident Management – Records and tracks machine incidents and anomalies.</a:t>
            </a:r>
            <a:endParaRPr lang="en-US" altLang="en-US"/>
          </a:p>
          <a:p>
            <a:r>
              <a:rPr lang="en-US" altLang="en-US"/>
              <a:t>• Real-Time Dashboard – Presents machine information and analytical results in a centralized interface.</a:t>
            </a:r>
            <a:endParaRPr lang="en-US" altLang="en-US"/>
          </a:p>
          <a:p>
            <a:r>
              <a:rPr lang="en-US" altLang="en-US"/>
              <a:t>• Integrated System – Connects monitoring, telemetry, prediction, maintenance, inventory, incidents, and notifications in one platform.</a:t>
            </a:r>
            <a:endParaRPr lang="en-US" altLang="en-US"/>
          </a:p>
        </p:txBody>
      </p:sp>
      <p:pic>
        <p:nvPicPr>
          <p:cNvPr id="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8285" y="1086485"/>
            <a:ext cx="5593080" cy="549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 Future Scope</a:t>
            </a:r>
          </a:p>
        </p:txBody>
      </p:sp>
      <p:sp>
        <p:nvSpPr>
          <p:cNvPr id="13" name="Text Box 12"/>
          <p:cNvSpPr txBox="1"/>
          <p:nvPr/>
        </p:nvSpPr>
        <p:spPr>
          <a:xfrm>
            <a:off x="732155" y="1468755"/>
            <a:ext cx="9550400" cy="4421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000"/>
              <a:t>• Real-Time Sensor Integration – Connect RoboPulse AI with live industrial sensors and robotic systems.</a:t>
            </a:r>
            <a:endParaRPr lang="en-US" altLang="en-US" sz="2000"/>
          </a:p>
          <a:p>
            <a:pPr algn="just"/>
            <a:r>
              <a:rPr lang="en-US" altLang="en-US" sz="2000"/>
              <a:t>• Advanced ML Models – Improve prediction accuracy using advanced machine learning and deep learning techniques.</a:t>
            </a:r>
            <a:endParaRPr lang="en-US" altLang="en-US" sz="2000"/>
          </a:p>
          <a:p>
            <a:pPr algn="just"/>
            <a:r>
              <a:rPr lang="en-US" altLang="en-US" sz="2000"/>
              <a:t>• Remaining Useful Life (RUL) – Estimate the remaining operational life of machine components.</a:t>
            </a:r>
            <a:endParaRPr lang="en-US" altLang="en-US" sz="2000"/>
          </a:p>
          <a:p>
            <a:pPr algn="just"/>
            <a:r>
              <a:rPr lang="en-US" altLang="en-US" sz="2000"/>
              <a:t>• Automated Alerts – Send real-time notifications when abnormal conditions are detected.</a:t>
            </a:r>
            <a:endParaRPr lang="en-US" altLang="en-US" sz="2000"/>
          </a:p>
          <a:p>
            <a:pPr algn="just"/>
            <a:r>
              <a:rPr lang="en-US" altLang="en-US" sz="2000"/>
              <a:t>• IoT Integration – Enable continuous data collection from connected industrial machines.</a:t>
            </a:r>
            <a:endParaRPr lang="en-US" altLang="en-US" sz="2000"/>
          </a:p>
          <a:p>
            <a:pPr algn="just"/>
            <a:r>
              <a:rPr lang="en-US" altLang="en-US" sz="2000"/>
              <a:t>• Cloud Deployment – Deploy the system on cloud platforms for remote monitoring and scalability.</a:t>
            </a:r>
            <a:endParaRPr lang="en-US" altLang="en-US" sz="2000"/>
          </a:p>
          <a:p>
            <a:pPr algn="just"/>
            <a:r>
              <a:rPr lang="en-US" altLang="en-US" sz="2000"/>
              <a:t>• Advanced Analytics – Add trend analysis and predictive maintenance insights for better planning.</a:t>
            </a:r>
            <a:endParaRPr lang="en-US" altLang="en-US" sz="2000"/>
          </a:p>
          <a:p>
            <a:pPr algn="just"/>
            <a:r>
              <a:rPr lang="en-US" altLang="en-US" sz="2000"/>
              <a:t>• Digital Twin Integration – Create virtual machine models for simulation and condition monitoring.</a:t>
            </a:r>
            <a:endParaRPr lang="en-US" altLang="en-US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 </a:t>
            </a:r>
            <a:r>
              <a:rPr lang="en-US" altLang="en-US">
                <a:sym typeface="+mn-ea"/>
              </a:rPr>
              <a:t>Conclusion</a:t>
            </a:r>
            <a:endParaRPr lang="en-US" altLang="en-US"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732155" y="1387475"/>
            <a:ext cx="9119870" cy="3620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en-US" sz="2000"/>
              <a:t>• Developed RoboPulse AI for predictive maintenance and process intelligence.</a:t>
            </a:r>
            <a:endParaRPr lang="en-US" altLang="en-US" sz="2000"/>
          </a:p>
          <a:p>
            <a:pPr algn="just"/>
            <a:r>
              <a:rPr lang="en-US" altLang="en-US" sz="2000"/>
              <a:t>• Integrated Streamlit, FastAPI, SQLite, SQLAlchemy, and Machine Learning into one application.</a:t>
            </a:r>
            <a:endParaRPr lang="en-US" altLang="en-US" sz="2000"/>
          </a:p>
          <a:p>
            <a:pPr algn="just"/>
            <a:r>
              <a:rPr lang="en-US" altLang="en-US" sz="2000"/>
              <a:t>• Enables centralized robot monitoring and telemetry management.</a:t>
            </a:r>
            <a:endParaRPr lang="en-US" altLang="en-US" sz="2000"/>
          </a:p>
          <a:p>
            <a:pPr algn="just"/>
            <a:r>
              <a:rPr lang="en-US" altLang="en-US" sz="2000"/>
              <a:t>• Provides AI-based prediction of potential protective-stop conditions.</a:t>
            </a:r>
            <a:endParaRPr lang="en-US" altLang="en-US" sz="2000"/>
          </a:p>
          <a:p>
            <a:pPr algn="just"/>
            <a:r>
              <a:rPr lang="en-US" altLang="en-US" sz="2000"/>
              <a:t>• Supports maintenance, incident, inventory, and notification management.</a:t>
            </a:r>
            <a:endParaRPr lang="en-US" altLang="en-US" sz="2000"/>
          </a:p>
          <a:p>
            <a:pPr algn="just"/>
            <a:r>
              <a:rPr lang="en-US" altLang="en-US" sz="2000"/>
              <a:t>• Presents machine information and prediction results through an interactive dashboard.</a:t>
            </a:r>
            <a:endParaRPr lang="en-US" altLang="en-US" sz="2000"/>
          </a:p>
          <a:p>
            <a:pPr algn="just"/>
            <a:r>
              <a:rPr lang="en-US" altLang="en-US" sz="2000"/>
              <a:t>• Helps identify potential machine problems for timely maintenance and intervention.</a:t>
            </a:r>
            <a:endParaRPr lang="en-US" altLang="en-US" sz="2000"/>
          </a:p>
          <a:p>
            <a:pPr algn="just"/>
            <a:r>
              <a:rPr lang="en-US" altLang="en-US" sz="2000"/>
              <a:t>• Provides a foundation for real-time, IoT-enabled, and intelligent industrial maintenance.</a:t>
            </a:r>
            <a:endParaRPr lang="en-US" alt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66928" y="621792"/>
            <a:ext cx="105156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222E"/>
                </a:solidFill>
                <a:latin typeface="Georgia" panose="02040502050405020303"/>
              </a:defRPr>
            </a:pPr>
            <a:r>
              <a:t> </a:t>
            </a:r>
            <a:endParaRPr lang="en-US" altLang="en-US">
              <a:sym typeface="+mn-ea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732155" y="1387475"/>
            <a:ext cx="9119870" cy="3620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endParaRPr lang="en-US" altLang="en-US" sz="2000"/>
          </a:p>
        </p:txBody>
      </p:sp>
      <p:pic>
        <p:nvPicPr>
          <p:cNvPr id="4" name="Picture 3" descr="pp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40" y="140970"/>
            <a:ext cx="11403330" cy="655129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85*537"/>
  <p:tag name="TABLE_ENDDRAG_RECT" val="37*104*885*53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10390</Words>
  <Application>WPS Presentation</Application>
  <PresentationFormat>On-screen Show (4:3)</PresentationFormat>
  <Paragraphs>279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SimSun</vt:lpstr>
      <vt:lpstr>Wingdings</vt:lpstr>
      <vt:lpstr>Arial</vt:lpstr>
      <vt:lpstr>Georgia</vt:lpstr>
      <vt:lpstr>Times New Roman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Azmeera Raghavendar</cp:lastModifiedBy>
  <cp:revision>8</cp:revision>
  <dcterms:created xsi:type="dcterms:W3CDTF">2013-01-27T09:14:00Z</dcterms:created>
  <dcterms:modified xsi:type="dcterms:W3CDTF">2026-09-22T09:08:05Z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C00F1EDAAE3148EEAEA4ECB72CC0577E_13</vt:lpwstr>
  </property>
  <property fmtid="{D5CDD505-2E9C-101B-9397-08002B2CF9AE}" pid="3" name="KSOProductBuildVer">
    <vt:lpwstr>1033-12.1.0.28485</vt:lpwstr>
  </property>
</Properties>
</file>