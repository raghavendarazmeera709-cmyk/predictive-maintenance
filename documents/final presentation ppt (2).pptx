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2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>
        <p:scale>
          <a:sx n="66" d="100"/>
          <a:sy n="66" d="100"/>
        </p:scale>
        <p:origin x="1301" y="288"/>
      </p:cViewPr>
      <p:guideLst>
        <p:guide orient="horz" pos="2062"/>
        <p:guide pos="289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833" y="892810"/>
            <a:ext cx="10698480" cy="75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3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US" altLang="en-US" dirty="0">
                <a:solidFill>
                  <a:schemeClr val="tx1"/>
                </a:solidFill>
              </a:rPr>
              <a:t>Robotic 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03527"/>
            <a:ext cx="99669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06E9B"/>
                </a:solidFill>
                <a:latin typeface="Arial" panose="020B0604020202020204"/>
              </a:defRPr>
            </a:pPr>
            <a:r>
              <a:rPr sz="2800" b="1" dirty="0"/>
              <a:t>AI-Based Industrial Maintenance &amp; Process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9359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3265" y="3395345"/>
            <a:ext cx="2574925" cy="5797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50" b="1">
                <a:solidFill>
                  <a:srgbClr val="16222E"/>
                </a:solidFill>
                <a:latin typeface="Arial" panose="020B0604020202020204"/>
              </a:defRPr>
            </a:pPr>
            <a:r>
              <a:rPr sz="2400" dirty="0"/>
              <a:t>P</a:t>
            </a:r>
            <a:r>
              <a:rPr lang="en-IN" sz="2400" dirty="0"/>
              <a:t>resented By: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1050" y="3975100"/>
            <a:ext cx="5473700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20" b="0">
                <a:solidFill>
                  <a:srgbClr val="536880"/>
                </a:solidFill>
                <a:latin typeface="Arial" panose="020B0604020202020204"/>
              </a:defRPr>
            </a:pPr>
            <a:r>
              <a:rPr lang="en-IN" altLang="en-US" sz="2800" dirty="0"/>
              <a:t>1.Abhigyan Saini</a:t>
            </a:r>
            <a:endParaRPr lang="en-US" altLang="en-US" sz="2800" dirty="0"/>
          </a:p>
          <a:p>
            <a:pPr algn="l">
              <a:defRPr sz="1020" b="0">
                <a:solidFill>
                  <a:srgbClr val="536880"/>
                </a:solidFill>
                <a:latin typeface="Arial" panose="020B0604020202020204"/>
              </a:defRPr>
            </a:pPr>
            <a:r>
              <a:rPr lang="en-IN" sz="2800" dirty="0"/>
              <a:t>2.Ankitha KS</a:t>
            </a:r>
          </a:p>
          <a:p>
            <a:pPr algn="l">
              <a:defRPr sz="1020" b="0">
                <a:solidFill>
                  <a:srgbClr val="536880"/>
                </a:solidFill>
                <a:latin typeface="Arial" panose="020B0604020202020204"/>
              </a:defRPr>
            </a:pPr>
            <a:r>
              <a:rPr lang="en-IN" sz="2800" dirty="0"/>
              <a:t>3.Azmeera Raghavendar</a:t>
            </a:r>
          </a:p>
          <a:p>
            <a:pPr algn="l">
              <a:defRPr sz="1020" b="0">
                <a:solidFill>
                  <a:srgbClr val="536880"/>
                </a:solidFill>
                <a:latin typeface="Arial" panose="020B0604020202020204"/>
              </a:defRPr>
            </a:pPr>
            <a:r>
              <a:rPr lang="en-IN" sz="2800" dirty="0"/>
              <a:t>4.Esha yadav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US" altLang="en-US" dirty="0"/>
              <a:t>Introduction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704215" y="1546225"/>
            <a:ext cx="10666095" cy="4664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dirty="0"/>
              <a:t>• Robotic arms are widely used in automotive assembly, welding, machining, and manufacturing.</a:t>
            </a:r>
          </a:p>
          <a:p>
            <a:r>
              <a:rPr lang="en-US" altLang="en-US" sz="2000" dirty="0"/>
              <a:t>• Continuous operation can lead to wear, overheating, vibration, and component degradation.</a:t>
            </a:r>
          </a:p>
          <a:p>
            <a:r>
              <a:rPr lang="en-US" altLang="en-US" sz="2000" dirty="0"/>
              <a:t>• Predictive maintenance uses machine data to identify potential problems before major failures occur.</a:t>
            </a:r>
          </a:p>
          <a:p>
            <a:r>
              <a:rPr lang="en-US" altLang="en-US" sz="2000" dirty="0"/>
              <a:t>• Important telemetry parameters include temperature, vibration, voltage, current, RPM, and pressure.</a:t>
            </a:r>
          </a:p>
          <a:p>
            <a:r>
              <a:rPr lang="en-US" altLang="en-US" sz="2000" dirty="0"/>
              <a:t>• Process intelligence converts machine and maintenance data into useful operational insights.</a:t>
            </a:r>
          </a:p>
          <a:p>
            <a:r>
              <a:rPr lang="en-US" altLang="en-US" sz="2000" dirty="0"/>
              <a:t>• Machine learning analyzes telemetry patterns to identify potential protective-stop or failure conditions.</a:t>
            </a:r>
          </a:p>
          <a:p>
            <a:r>
              <a:rPr lang="en-US" altLang="en-US" sz="2000" dirty="0"/>
              <a:t>• A centralized system helps monitor machines, predictions, maintenance, incidents, inventory, and notifications.</a:t>
            </a:r>
          </a:p>
          <a:p>
            <a:r>
              <a:rPr lang="en-US" altLang="en-US" sz="2000" dirty="0"/>
              <a:t>• FactoryOps AI integrates these capabilities into a single platform for intelligent robotic-arm monitoring and proactive maintenance.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508" y="703707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dirty="0"/>
              <a:t>Problem Statement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1343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1343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1343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480559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04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62635" y="1613535"/>
            <a:ext cx="9041130" cy="4041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dirty="0"/>
              <a:t>• Unexpected robotic-arm failures can cause production downtime and operational delays.</a:t>
            </a:r>
          </a:p>
          <a:p>
            <a:r>
              <a:rPr lang="en-US" altLang="en-US" sz="2000" dirty="0"/>
              <a:t>• Traditional scheduled maintenance may not detect developing faults at the right time.</a:t>
            </a:r>
          </a:p>
          <a:p>
            <a:r>
              <a:rPr lang="en-US" altLang="en-US" sz="2000" dirty="0"/>
              <a:t>• Continuous monitoring of machine parameters is difficult with manual observation.</a:t>
            </a:r>
          </a:p>
          <a:p>
            <a:r>
              <a:rPr lang="en-US" altLang="en-US" sz="2000" dirty="0"/>
              <a:t>• Abnormal temperature and vibration may indicate developing machine problems.</a:t>
            </a:r>
          </a:p>
          <a:p>
            <a:r>
              <a:rPr lang="en-US" altLang="en-US" sz="2000" dirty="0"/>
              <a:t>• Large amounts of telemetry data can be difficult to analyze manually.</a:t>
            </a:r>
          </a:p>
          <a:p>
            <a:r>
              <a:rPr lang="en-US" altLang="en-US" sz="2000" dirty="0"/>
              <a:t>• Maintenance teams may not have early indications of potential failures.</a:t>
            </a:r>
          </a:p>
          <a:p>
            <a:r>
              <a:rPr lang="en-US" altLang="en-US" sz="2000" dirty="0"/>
              <a:t>• Machine, maintenance, incident, and inventory information may be distributed across different records.</a:t>
            </a:r>
          </a:p>
          <a:p>
            <a:r>
              <a:rPr lang="en-US" altLang="en-US" sz="2000" dirty="0"/>
              <a:t>• A centralized system is needed to monitor robotic-arm health and support proactive maintenance.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dirty="0"/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rPr dirty="0"/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2199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2199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222199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9651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09651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05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50570" y="1622425"/>
            <a:ext cx="9237980" cy="3613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dirty="0"/>
              <a:t>• Develop a centralized platform for monitoring and managing robotic-arm operations.</a:t>
            </a:r>
          </a:p>
          <a:p>
            <a:r>
              <a:rPr lang="en-US" altLang="en-US" sz="2000" dirty="0"/>
              <a:t>• Collect and monitor important telemetry data from robotic-arm systems.</a:t>
            </a:r>
          </a:p>
          <a:p>
            <a:r>
              <a:rPr lang="en-US" altLang="en-US" sz="2000" dirty="0"/>
              <a:t>• Analyze parameters such as temperature, vibration, voltage, current, RPM, and pressure.</a:t>
            </a:r>
          </a:p>
          <a:p>
            <a:r>
              <a:rPr lang="en-US" altLang="en-US" sz="2000" dirty="0"/>
              <a:t>• Detect abnormal machine conditions using telemetry and operational data.</a:t>
            </a:r>
          </a:p>
          <a:p>
            <a:r>
              <a:rPr lang="en-US" altLang="en-US" sz="2000" dirty="0"/>
              <a:t>• Apply machine learning to predict potential protective-stop or failure conditions.</a:t>
            </a:r>
          </a:p>
          <a:p>
            <a:r>
              <a:rPr lang="en-US" altLang="en-US" sz="2000" dirty="0"/>
              <a:t>• Provide a dashboard for visualizing machine health and prediction results.</a:t>
            </a:r>
          </a:p>
          <a:p>
            <a:r>
              <a:rPr lang="en-US" altLang="en-US" sz="2000" dirty="0"/>
              <a:t>• Manage maintenance schedules, incidents, inventory, and operational notifications.</a:t>
            </a:r>
          </a:p>
          <a:p>
            <a:r>
              <a:rPr lang="en-US" altLang="en-US" sz="2000" dirty="0"/>
              <a:t>• Support proactive maintenance and data-driven decision-making for robotic-arm operations.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dirty="0"/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rPr dirty="0"/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9631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49631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249631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8903" y="249631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04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656590" y="1457960"/>
            <a:ext cx="9488805" cy="4958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dirty="0"/>
              <a:t>• FactoryOps AI provides a centralized platform for robotic-arm monitoring and maintenance management.</a:t>
            </a:r>
          </a:p>
          <a:p>
            <a:r>
              <a:rPr lang="en-US" altLang="en-US" sz="2000" dirty="0"/>
              <a:t>• The system collects machine telemetry data from different operational parameters.</a:t>
            </a:r>
          </a:p>
          <a:p>
            <a:r>
              <a:rPr lang="en-US" altLang="en-US" sz="2000" dirty="0"/>
              <a:t>• FastAPI processes requests and connects the frontend with the database and prediction services.</a:t>
            </a:r>
          </a:p>
          <a:p>
            <a:r>
              <a:rPr lang="en-US" altLang="en-US" sz="2000" dirty="0"/>
              <a:t>• Machine learning analyzes temperature and vibration data to identify potential failure conditions.</a:t>
            </a:r>
          </a:p>
          <a:p>
            <a:r>
              <a:rPr lang="en-US" altLang="en-US" sz="2000" dirty="0"/>
              <a:t>• The system displays machine health, telemetry trends, and prediction results through a dashboard.</a:t>
            </a:r>
          </a:p>
          <a:p>
            <a:r>
              <a:rPr lang="en-US" altLang="en-US" sz="2000" dirty="0"/>
              <a:t>• Maintenance records and schedules are managed to support proactive maintenance activities.</a:t>
            </a:r>
          </a:p>
          <a:p>
            <a:r>
              <a:rPr lang="en-US" altLang="en-US" sz="2000" dirty="0"/>
              <a:t>• Incidents, spare-parts inventory, and notifications are maintained within the same platform.</a:t>
            </a:r>
          </a:p>
          <a:p>
            <a:r>
              <a:rPr lang="en-US" altLang="en-US" sz="2000" dirty="0"/>
              <a:t>• The proposed system combines monitoring, prediction, and maintenance information for better operational visibility.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57798" y="3051937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dirty="0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40487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8903" y="240487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rPr dirty="0"/>
              <a:t>04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577215" y="347769"/>
            <a:ext cx="425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IN" altLang="en-US" dirty="0"/>
              <a:t>System Architecture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141" y="2186412"/>
            <a:ext cx="9419308" cy="44442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22380C-47A1-F339-630C-CBF42D4D0DA0}"/>
              </a:ext>
            </a:extLst>
          </p:cNvPr>
          <p:cNvSpPr txBox="1"/>
          <p:nvPr/>
        </p:nvSpPr>
        <p:spPr>
          <a:xfrm>
            <a:off x="577215" y="927911"/>
            <a:ext cx="11216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architecture shows how users interact with RoboPulse AI through the Streamlit frontend, while FastAPI manages APIs and connects the database with the ML system.</a:t>
            </a:r>
            <a:br>
              <a:rPr lang="en-US" dirty="0"/>
            </a:br>
            <a:r>
              <a:rPr lang="en-US" dirty="0"/>
              <a:t>The Random Forest model analyzes telemetry data to generate risk predictions, machine health, alerts, and maintenance information displayed on the dashboard.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dirty="0"/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rPr dirty="0"/>
              <a:t>07</a:t>
            </a:r>
          </a:p>
        </p:txBody>
      </p:sp>
      <p:sp>
        <p:nvSpPr>
          <p:cNvPr id="41" name="Text Box 40"/>
          <p:cNvSpPr txBox="1"/>
          <p:nvPr/>
        </p:nvSpPr>
        <p:spPr>
          <a:xfrm>
            <a:off x="773430" y="1680845"/>
            <a:ext cx="8509000" cy="2588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en-US" sz="2000" dirty="0"/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473710" y="1320165"/>
          <a:ext cx="11243945" cy="6836410"/>
        </p:xfrm>
        <a:graphic>
          <a:graphicData uri="http://schemas.openxmlformats.org/drawingml/2006/table">
            <a:tbl>
              <a:tblPr/>
              <a:tblGrid>
                <a:gridCol w="3331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2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0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315"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 dirty="0">
                          <a:latin typeface="Times New Roman" panose="02020603050405020304"/>
                          <a:ea typeface="Calibri" panose="020F0502020204030204"/>
                        </a:rPr>
                        <a:t>Category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 dirty="0">
                          <a:latin typeface="Times New Roman" panose="02020603050405020304"/>
                          <a:ea typeface="Calibri" panose="020F0502020204030204"/>
                        </a:rPr>
                        <a:t>Technology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 dirty="0">
                          <a:latin typeface="Times New Roman" panose="02020603050405020304"/>
                          <a:ea typeface="Calibri" panose="020F0502020204030204"/>
                        </a:rPr>
                        <a:t>Purpose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 dirty="0">
                          <a:latin typeface="Times New Roman" panose="02020603050405020304"/>
                          <a:ea typeface="Calibri" panose="020F0502020204030204"/>
                        </a:rPr>
                        <a:t>Frontend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Streamlit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Provides the interactive web dashboard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 dirty="0">
                          <a:latin typeface="Times New Roman" panose="02020603050405020304"/>
                          <a:ea typeface="Calibri" panose="020F0502020204030204"/>
                        </a:rPr>
                        <a:t>Backend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Python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Handles API requests and application logic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 dirty="0">
                          <a:latin typeface="Times New Roman" panose="02020603050405020304"/>
                          <a:ea typeface="Calibri" panose="020F0502020204030204"/>
                        </a:rPr>
                        <a:t>Programming Language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Python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Used for frontend, backend, ML, and data processing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 dirty="0">
                          <a:latin typeface="Times New Roman" panose="02020603050405020304"/>
                          <a:ea typeface="Calibri" panose="020F0502020204030204"/>
                        </a:rPr>
                        <a:t>Machine Learning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Scikit-learn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Model training and prediction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 dirty="0">
                          <a:latin typeface="Times New Roman" panose="02020603050405020304"/>
                          <a:ea typeface="Calibri" panose="020F0502020204030204"/>
                        </a:rPr>
                        <a:t>ML Model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Random forest      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Used for predictive classification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 dirty="0">
                          <a:latin typeface="Times New Roman" panose="02020603050405020304"/>
                          <a:ea typeface="Calibri" panose="020F0502020204030204"/>
                        </a:rPr>
                        <a:t>Model Storage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Pickle (.</a:t>
                      </a:r>
                      <a:r>
                        <a:rPr sz="2000" dirty="0" err="1">
                          <a:latin typeface="Times New Roman" panose="02020603050405020304"/>
                          <a:ea typeface="Calibri" panose="020F0502020204030204"/>
                        </a:rPr>
                        <a:t>pkl</a:t>
                      </a: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)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Stores and loads the trained ML model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 dirty="0">
                          <a:latin typeface="Times New Roman" panose="02020603050405020304"/>
                          <a:ea typeface="Calibri" panose="020F0502020204030204"/>
                        </a:rPr>
                        <a:t>Database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SQLite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Stores application data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 dirty="0">
                          <a:latin typeface="Times New Roman" panose="02020603050405020304"/>
                          <a:ea typeface="Calibri" panose="020F0502020204030204"/>
                        </a:rPr>
                        <a:t>Database ORM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SQLAlchemy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Provides database interaction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 dirty="0">
                          <a:latin typeface="Times New Roman" panose="02020603050405020304"/>
                          <a:ea typeface="Calibri" panose="020F0502020204030204"/>
                        </a:rPr>
                        <a:t>Data Processing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Pandas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</a:rPr>
                        <a:t>Data loading, cleaning, and preprocessing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 dirty="0">
                          <a:latin typeface="Times New Roman" panose="02020603050405020304"/>
                          <a:ea typeface="Calibri" panose="020F0502020204030204"/>
                          <a:sym typeface="+mn-ea"/>
                        </a:rPr>
                        <a:t>Development</a:t>
                      </a:r>
                      <a:r>
                        <a:rPr lang="en-IN" sz="2000" b="1" dirty="0">
                          <a:latin typeface="Times New Roman" panose="02020603050405020304"/>
                          <a:ea typeface="Calibri" panose="020F0502020204030204"/>
                          <a:sym typeface="+mn-ea"/>
                        </a:rPr>
                        <a:t> </a:t>
                      </a:r>
                      <a:r>
                        <a:rPr sz="2000" b="1" dirty="0">
                          <a:latin typeface="Times New Roman" panose="02020603050405020304"/>
                          <a:ea typeface="Calibri" panose="020F0502020204030204"/>
                          <a:sym typeface="+mn-ea"/>
                        </a:rPr>
                        <a:t>Environment</a:t>
                      </a:r>
                      <a:endParaRPr lang="en-IN" sz="2000" b="1" dirty="0">
                        <a:latin typeface="Times New Roman" panose="02020603050405020304"/>
                        <a:ea typeface="Calibri" panose="020F0502020204030204"/>
                        <a:sym typeface="+mn-ea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  <a:sym typeface="+mn-ea"/>
                        </a:rPr>
                        <a:t>VS Code</a:t>
                      </a:r>
                      <a:endParaRPr sz="2000" dirty="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dirty="0">
                          <a:latin typeface="Times New Roman" panose="02020603050405020304"/>
                          <a:ea typeface="Calibri" panose="020F0502020204030204"/>
                          <a:sym typeface="+mn-ea"/>
                        </a:rPr>
                        <a:t>Project development and testing</a:t>
                      </a:r>
                      <a:endParaRPr sz="2000" dirty="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 b="1" dirty="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 dirty="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 dirty="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 b="1" dirty="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 dirty="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 dirty="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 b="1" dirty="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 dirty="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 dirty="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9120" y="3931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US" altLang="en-US" dirty="0"/>
              <a:t>Frontend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rPr dirty="0"/>
              <a:t>08</a:t>
            </a:r>
          </a:p>
        </p:txBody>
      </p:sp>
      <p:sp>
        <p:nvSpPr>
          <p:cNvPr id="46" name="Text Box 45"/>
          <p:cNvSpPr txBox="1"/>
          <p:nvPr/>
        </p:nvSpPr>
        <p:spPr>
          <a:xfrm>
            <a:off x="744855" y="1000042"/>
            <a:ext cx="9169400" cy="1627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dirty="0">
                <a:latin typeface="+mj-lt"/>
              </a:rPr>
              <a:t>• Design an interactive Landing Page to introduce RoboPulse AI.</a:t>
            </a:r>
          </a:p>
          <a:p>
            <a:r>
              <a:rPr lang="en-US" altLang="en-US" dirty="0">
                <a:latin typeface="+mj-lt"/>
              </a:rPr>
              <a:t>• Implement a secure Login / Signup Page for user authentication.</a:t>
            </a:r>
          </a:p>
          <a:p>
            <a:r>
              <a:rPr lang="en-US" altLang="en-US" dirty="0">
                <a:latin typeface="+mj-lt"/>
              </a:rPr>
              <a:t>• Develop a centralized Dashboard for machine health and system monitoring.</a:t>
            </a:r>
          </a:p>
          <a:p>
            <a:r>
              <a:rPr lang="en-US" altLang="en-US" dirty="0">
                <a:latin typeface="+mj-lt"/>
              </a:rPr>
              <a:t>• Provide interactive Monitoring Modules for telemetry, predictions, maintenance</a:t>
            </a:r>
            <a:endParaRPr lang="en-US" altLang="en-US" sz="1400" dirty="0"/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78" y="2287706"/>
            <a:ext cx="11336187" cy="4268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91687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US" altLang="en-US" dirty="0"/>
              <a:t>Dashboard &amp; 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rPr dirty="0"/>
              <a:t>09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678815" y="890112"/>
            <a:ext cx="10023475" cy="223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Dashboard</a:t>
            </a:r>
            <a:r>
              <a:rPr lang="en-US" dirty="0"/>
              <a:t> provides a centralized view of machine health, telemetry, predictions, alerts, and maintenance status.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User Interface</a:t>
            </a:r>
            <a:r>
              <a:rPr lang="en-US" dirty="0"/>
              <a:t> offers simple and interactive screens for monitoring machines and managing maintenance activities.</a:t>
            </a: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" y="2087847"/>
            <a:ext cx="11518900" cy="46659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dirty="0"/>
              <a:t>Backend &amp;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rPr dirty="0"/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5248655"/>
            <a:ext cx="93268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20" b="0">
                <a:solidFill>
                  <a:srgbClr val="536880"/>
                </a:solidFill>
                <a:latin typeface="Arial" panose="020B0604020202020204"/>
              </a:defRPr>
            </a:pPr>
            <a:endParaRPr dirty="0"/>
          </a:p>
        </p:txBody>
      </p:sp>
      <p:sp>
        <p:nvSpPr>
          <p:cNvPr id="60" name="Text Box 59"/>
          <p:cNvSpPr txBox="1"/>
          <p:nvPr/>
        </p:nvSpPr>
        <p:spPr>
          <a:xfrm>
            <a:off x="693420" y="1671320"/>
            <a:ext cx="10507980" cy="4070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dirty="0">
                <a:cs typeface="+mn-lt"/>
                <a:sym typeface="+mn-ea"/>
              </a:rPr>
              <a:t>•</a:t>
            </a:r>
            <a:r>
              <a:rPr lang="en-IN" altLang="en-US" sz="2000" b="1" dirty="0">
                <a:cs typeface="+mn-lt"/>
              </a:rPr>
              <a:t> </a:t>
            </a:r>
            <a:r>
              <a:rPr lang="en-US" altLang="en-US" sz="2000" b="1" dirty="0">
                <a:cs typeface="+mn-lt"/>
              </a:rPr>
              <a:t>FastAPI REST Backend</a:t>
            </a:r>
            <a:r>
              <a:rPr lang="en-US" altLang="en-US" sz="2000" dirty="0">
                <a:cs typeface="+mn-lt"/>
              </a:rPr>
              <a:t> – Provides the API layer that connects the Streamlit frontend with the backend services.</a:t>
            </a:r>
          </a:p>
          <a:p>
            <a:r>
              <a:rPr lang="en-US" altLang="en-US" sz="2000" dirty="0">
                <a:cs typeface="+mn-lt"/>
                <a:sym typeface="+mn-ea"/>
              </a:rPr>
              <a:t>•</a:t>
            </a:r>
            <a:r>
              <a:rPr lang="en-IN" altLang="en-US" sz="2000" dirty="0">
                <a:cs typeface="+mn-lt"/>
                <a:sym typeface="+mn-ea"/>
              </a:rPr>
              <a:t> </a:t>
            </a:r>
            <a:r>
              <a:rPr lang="en-US" altLang="en-US" sz="2000" b="1" dirty="0">
                <a:cs typeface="+mn-lt"/>
              </a:rPr>
              <a:t>API Routing –</a:t>
            </a:r>
            <a:r>
              <a:rPr lang="en-US" altLang="en-US" sz="2000" dirty="0">
                <a:cs typeface="+mn-lt"/>
              </a:rPr>
              <a:t> Handles endpoints for machines, telemetry, predictions, maintenance, incidents, and notifications.</a:t>
            </a:r>
          </a:p>
          <a:p>
            <a:r>
              <a:rPr lang="en-US" altLang="en-US" sz="2000" dirty="0">
                <a:cs typeface="+mn-lt"/>
                <a:sym typeface="+mn-ea"/>
              </a:rPr>
              <a:t>•</a:t>
            </a:r>
            <a:r>
              <a:rPr lang="en-IN" altLang="en-US" sz="2000" b="1" dirty="0">
                <a:cs typeface="+mn-lt"/>
              </a:rPr>
              <a:t> </a:t>
            </a:r>
            <a:r>
              <a:rPr lang="en-US" altLang="en-US" sz="2000" b="1" dirty="0">
                <a:cs typeface="+mn-lt"/>
              </a:rPr>
              <a:t>Request Validation – </a:t>
            </a:r>
            <a:r>
              <a:rPr lang="en-US" altLang="en-US" sz="2000" dirty="0">
                <a:cs typeface="+mn-lt"/>
              </a:rPr>
              <a:t>Uses Pydantic to validate incoming data and ensure correct request/response formats.</a:t>
            </a:r>
          </a:p>
          <a:p>
            <a:r>
              <a:rPr lang="en-US" altLang="en-US" sz="2000" dirty="0">
                <a:cs typeface="+mn-lt"/>
                <a:sym typeface="+mn-ea"/>
              </a:rPr>
              <a:t>•</a:t>
            </a:r>
            <a:r>
              <a:rPr lang="en-IN" altLang="en-US" sz="2000" b="1" dirty="0">
                <a:cs typeface="+mn-lt"/>
              </a:rPr>
              <a:t> </a:t>
            </a:r>
            <a:r>
              <a:rPr lang="en-US" altLang="en-US" sz="2000" b="1" dirty="0">
                <a:cs typeface="+mn-lt"/>
              </a:rPr>
              <a:t>Database Communication –</a:t>
            </a:r>
            <a:r>
              <a:rPr lang="en-US" altLang="en-US" sz="2000" dirty="0">
                <a:cs typeface="+mn-lt"/>
              </a:rPr>
              <a:t> Uses SQLAlchemy with SQLite to store and retrieve machine, telemetry, maintenance, and prediction data.</a:t>
            </a:r>
          </a:p>
          <a:p>
            <a:r>
              <a:rPr lang="en-US" altLang="en-US" sz="2000" dirty="0">
                <a:cs typeface="+mn-lt"/>
                <a:sym typeface="+mn-ea"/>
              </a:rPr>
              <a:t>•</a:t>
            </a:r>
            <a:r>
              <a:rPr lang="en-IN" altLang="en-US" sz="2000" b="1" dirty="0">
                <a:cs typeface="+mn-lt"/>
              </a:rPr>
              <a:t> </a:t>
            </a:r>
            <a:r>
              <a:rPr lang="en-US" altLang="en-US" sz="2000" b="1" dirty="0">
                <a:cs typeface="+mn-lt"/>
              </a:rPr>
              <a:t>AI/ML Integration –</a:t>
            </a:r>
            <a:r>
              <a:rPr lang="en-US" altLang="en-US" sz="2000" dirty="0">
                <a:cs typeface="+mn-lt"/>
              </a:rPr>
              <a:t> Processes machine telemetry through the prediction service to determine failure risk, health status, and remaining useful life.</a:t>
            </a:r>
          </a:p>
          <a:p>
            <a:r>
              <a:rPr lang="en-US" altLang="en-US" sz="2000" dirty="0">
                <a:cs typeface="+mn-lt"/>
                <a:sym typeface="+mn-ea"/>
              </a:rPr>
              <a:t>•</a:t>
            </a:r>
            <a:r>
              <a:rPr lang="en-IN" altLang="en-US" sz="2000" b="1" dirty="0">
                <a:cs typeface="+mn-lt"/>
              </a:rPr>
              <a:t> </a:t>
            </a:r>
            <a:r>
              <a:rPr lang="en-US" altLang="en-US" sz="2000" b="1" dirty="0">
                <a:cs typeface="+mn-lt"/>
              </a:rPr>
              <a:t>JSON Response –</a:t>
            </a:r>
            <a:r>
              <a:rPr lang="en-US" altLang="en-US" sz="2000" dirty="0">
                <a:cs typeface="+mn-lt"/>
              </a:rPr>
              <a:t> FastAPI sends processed results and prediction data back to the Streamlit frontend in JSON format.</a:t>
            </a:r>
          </a:p>
          <a:p>
            <a:r>
              <a:rPr lang="en-US" altLang="en-US" sz="2000" dirty="0">
                <a:cs typeface="+mn-lt"/>
                <a:sym typeface="+mn-ea"/>
              </a:rPr>
              <a:t>•</a:t>
            </a:r>
            <a:r>
              <a:rPr lang="en-IN" altLang="en-US" sz="2000" b="1" dirty="0">
                <a:cs typeface="+mn-lt"/>
              </a:rPr>
              <a:t> </a:t>
            </a:r>
            <a:r>
              <a:rPr lang="en-US" altLang="en-US" sz="2000" b="1" dirty="0">
                <a:cs typeface="+mn-lt"/>
              </a:rPr>
              <a:t>API Flow –</a:t>
            </a:r>
            <a:r>
              <a:rPr lang="en-US" altLang="en-US" sz="2000" dirty="0">
                <a:cs typeface="+mn-lt"/>
              </a:rPr>
              <a:t> Streamlit → HTTP Request → FastAPI → Business Logic → Database/ML → JSON Response → </a:t>
            </a:r>
            <a:r>
              <a:rPr lang="en-IN" altLang="en-US" sz="2000" dirty="0">
                <a:cs typeface="+mn-lt"/>
              </a:rPr>
              <a:t>    </a:t>
            </a:r>
            <a:r>
              <a:rPr lang="en-US" altLang="en-US" sz="2000" dirty="0">
                <a:cs typeface="+mn-lt"/>
              </a:rPr>
              <a:t>Streamlit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dirty="0"/>
              <a:t>Database Design</a:t>
            </a:r>
          </a:p>
        </p:txBody>
      </p:sp>
      <p:sp>
        <p:nvSpPr>
          <p:cNvPr id="54" name="Text Box 53"/>
          <p:cNvSpPr txBox="1"/>
          <p:nvPr/>
        </p:nvSpPr>
        <p:spPr>
          <a:xfrm>
            <a:off x="828040" y="1494155"/>
            <a:ext cx="8759190" cy="3698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2000" dirty="0"/>
              <a:t>•SQLite is used as the primary database for the RoboPulse AI system.</a:t>
            </a:r>
          </a:p>
          <a:p>
            <a:pPr algn="just"/>
            <a:r>
              <a:rPr lang="en-US" altLang="en-US" sz="2000" dirty="0"/>
              <a:t>•SQLAlchemy ORM manages communication between the application and database.</a:t>
            </a:r>
          </a:p>
          <a:p>
            <a:pPr algn="just"/>
            <a:r>
              <a:rPr lang="en-US" altLang="en-US" sz="2000" dirty="0"/>
              <a:t>•Robot/Machine data contains machine name, location, and operating status.</a:t>
            </a:r>
          </a:p>
          <a:p>
            <a:pPr algn="just"/>
            <a:r>
              <a:rPr lang="en-US" altLang="en-US" sz="2000" dirty="0"/>
              <a:t>•Telemetry data captures temperature, vibration, pressure, voltage, current, and </a:t>
            </a:r>
            <a:r>
              <a:rPr lang="en-IN" altLang="en-US" sz="2000" dirty="0"/>
              <a:t>   </a:t>
            </a:r>
            <a:r>
              <a:rPr lang="en-US" altLang="en-US" sz="2000" dirty="0"/>
              <a:t>RPM.</a:t>
            </a:r>
          </a:p>
          <a:p>
            <a:pPr algn="just"/>
            <a:r>
              <a:rPr lang="en-US" altLang="en-US" sz="2000" dirty="0"/>
              <a:t>•Prediction records include failure prediction, risk level, probability, and timestamp.</a:t>
            </a:r>
          </a:p>
          <a:p>
            <a:pPr algn="just"/>
            <a:r>
              <a:rPr lang="en-US" altLang="en-US" sz="2000" dirty="0"/>
              <a:t>•Maintenance records help manage maintenance schedules, activities, and status.</a:t>
            </a:r>
          </a:p>
          <a:p>
            <a:pPr algn="just"/>
            <a:r>
              <a:rPr lang="en-US" altLang="en-US" sz="2000" dirty="0"/>
              <a:t>•Incident records provide details about incidents, severity, descriptions, and dates.</a:t>
            </a:r>
          </a:p>
          <a:p>
            <a:pPr algn="just"/>
            <a:r>
              <a:rPr lang="en-US" altLang="en-US" sz="2000" dirty="0"/>
              <a:t>•Centralized database access connects monitoring, prediction, maintenance, and dashboard modules.</a:t>
            </a:r>
          </a:p>
          <a:p>
            <a:pPr algn="just"/>
            <a:r>
              <a:rPr lang="en-US" altLang="en-US" sz="2000" dirty="0">
                <a:sym typeface="+mn-ea"/>
              </a:rPr>
              <a:t>•</a:t>
            </a:r>
            <a:r>
              <a:rPr lang="en-US" altLang="en-US" sz="2000" b="1" dirty="0"/>
              <a:t>Data Flow:</a:t>
            </a:r>
            <a:r>
              <a:rPr lang="en-US" altLang="en-US" sz="2000" dirty="0"/>
              <a:t> FastAPI → SQLAlchemy → SQLite → Retrieved Data → AI/ML Analysis → Streamlit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dirty="0"/>
              <a:t>AI/ML 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rPr dirty="0"/>
              <a:t>12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785495" y="1335630"/>
            <a:ext cx="2698750" cy="513461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dirty="0">
                <a:latin typeface="+mj-lt"/>
              </a:rPr>
              <a:t>• Scikit-learn is used to develop the machine learning model.</a:t>
            </a:r>
          </a:p>
          <a:p>
            <a:r>
              <a:rPr lang="en-US" altLang="en-US" sz="1600" dirty="0">
                <a:latin typeface="+mj-lt"/>
              </a:rPr>
              <a:t>• Temperature and Vibration Intensity are used as key input features.</a:t>
            </a:r>
          </a:p>
          <a:p>
            <a:r>
              <a:rPr lang="en-US" altLang="en-US" sz="1600" dirty="0">
                <a:latin typeface="+mj-lt"/>
              </a:rPr>
              <a:t>• Logistic Regression, Decision Tree, and Random Forest models were compared.</a:t>
            </a:r>
          </a:p>
          <a:p>
            <a:r>
              <a:rPr lang="en-US" altLang="en-US" sz="1600" dirty="0">
                <a:latin typeface="+mj-lt"/>
              </a:rPr>
              <a:t>• Random Forest Classifier is used for the final prediction.</a:t>
            </a:r>
          </a:p>
          <a:p>
            <a:r>
              <a:rPr lang="en-US" altLang="en-US" sz="1600" dirty="0">
                <a:latin typeface="+mj-lt"/>
              </a:rPr>
              <a:t>• The model learns patterns from historical machine telemetry data.</a:t>
            </a:r>
          </a:p>
          <a:p>
            <a:r>
              <a:rPr lang="en-US" altLang="en-US" sz="1600" dirty="0">
                <a:latin typeface="+mj-lt"/>
              </a:rPr>
              <a:t>• It identifies machine conditions associated with potential protective-stop events.</a:t>
            </a:r>
          </a:p>
          <a:p>
            <a:r>
              <a:rPr lang="en-US" altLang="en-US" sz="1600" dirty="0">
                <a:latin typeface="+mj-lt"/>
              </a:rPr>
              <a:t>• Prediction results are classified as Normal, Possible Failure, or High Risk.</a:t>
            </a:r>
          </a:p>
          <a:p>
            <a:pPr algn="just"/>
            <a:endParaRPr lang="en-US" altLang="en-US" sz="1400" dirty="0"/>
          </a:p>
        </p:txBody>
      </p:sp>
      <p:pic>
        <p:nvPicPr>
          <p:cNvPr id="14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245" y="1520825"/>
            <a:ext cx="8619490" cy="484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dirty="0"/>
              <a:t>Prediction &amp;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rPr dirty="0"/>
              <a:t>13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554872-AFBF-9DC1-26F7-D5CA08193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69687"/>
            <a:ext cx="10394297" cy="53795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7055" y="272415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US" altLang="en-US" dirty="0"/>
              <a:t>System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FA89CD-3AB0-6149-BD62-E02F3633145D}"/>
              </a:ext>
            </a:extLst>
          </p:cNvPr>
          <p:cNvSpPr txBox="1"/>
          <p:nvPr/>
        </p:nvSpPr>
        <p:spPr>
          <a:xfrm>
            <a:off x="642291" y="794385"/>
            <a:ext cx="108516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system provides a </a:t>
            </a:r>
            <a:r>
              <a:rPr lang="en-US" sz="2000" b="1" dirty="0"/>
              <a:t>centralized view of robotic-arm performance and health</a:t>
            </a:r>
            <a:r>
              <a:rPr lang="en-US" sz="2000" dirty="0"/>
              <a:t> through the dashboard.</a:t>
            </a:r>
            <a:br>
              <a:rPr lang="en-US" sz="2000" dirty="0"/>
            </a:br>
            <a:r>
              <a:rPr lang="en-US" sz="2000" dirty="0"/>
              <a:t>It combines </a:t>
            </a:r>
            <a:r>
              <a:rPr lang="en-US" sz="2000" b="1" dirty="0"/>
              <a:t>telemetry data, Random Forest predictions, alerts, and maintenance information</a:t>
            </a:r>
            <a:r>
              <a:rPr lang="en-US" sz="2000" dirty="0"/>
              <a:t> to support proactive machine monitoring.</a:t>
            </a:r>
            <a:br>
              <a:rPr lang="en-US" sz="2000" dirty="0"/>
            </a:br>
            <a:r>
              <a:rPr lang="en-US" sz="2000" dirty="0"/>
              <a:t>These results help users </a:t>
            </a:r>
            <a:r>
              <a:rPr lang="en-US" sz="2000" b="1" dirty="0"/>
              <a:t>track machine conditions, identify potential risks, and plan maintenance activities effectively</a:t>
            </a:r>
            <a:r>
              <a:rPr lang="en-US" sz="2000" dirty="0"/>
              <a:t>.</a:t>
            </a:r>
            <a:endParaRPr lang="en-IN" sz="20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0CE4CB-7151-2410-DB52-17AFA8F2F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54" y="2733377"/>
            <a:ext cx="9353053" cy="38522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dirty="0"/>
              <a:t> Future Scope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732155" y="1468755"/>
            <a:ext cx="9550400" cy="4421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2000" dirty="0"/>
              <a:t>• Real-Time Sensor Integration – Connect RoboPulse AI with live industrial sensors and robotic systems.</a:t>
            </a:r>
          </a:p>
          <a:p>
            <a:pPr algn="just"/>
            <a:r>
              <a:rPr lang="en-US" altLang="en-US" sz="2000" dirty="0"/>
              <a:t>• Advanced ML Models – Improve prediction accuracy using advanced machine learning and deep learning techniques.</a:t>
            </a:r>
          </a:p>
          <a:p>
            <a:pPr algn="just"/>
            <a:r>
              <a:rPr lang="en-US" altLang="en-US" sz="2000" dirty="0"/>
              <a:t>• Remaining Useful Life (RUL) – Estimate the remaining operational life of machine components.</a:t>
            </a:r>
          </a:p>
          <a:p>
            <a:pPr algn="just"/>
            <a:r>
              <a:rPr lang="en-US" altLang="en-US" sz="2000" dirty="0"/>
              <a:t>• Automated Alerts – Send real-time notifications when abnormal conditions are detected.</a:t>
            </a:r>
          </a:p>
          <a:p>
            <a:pPr algn="just"/>
            <a:r>
              <a:rPr lang="en-US" altLang="en-US" sz="2000" dirty="0"/>
              <a:t>• IoT Integration – Enable continuous data collection from connected industrial machines.</a:t>
            </a:r>
          </a:p>
          <a:p>
            <a:pPr algn="just"/>
            <a:r>
              <a:rPr lang="en-US" altLang="en-US" sz="2000" dirty="0"/>
              <a:t>• Cloud Deployment – Deploy the system on cloud platforms for remote monitoring and scalability.</a:t>
            </a:r>
          </a:p>
          <a:p>
            <a:pPr algn="just"/>
            <a:r>
              <a:rPr lang="en-US" altLang="en-US" sz="2000" dirty="0"/>
              <a:t>• Advanced Analytics – Add trend analysis and predictive maintenance insights for better planning.</a:t>
            </a:r>
          </a:p>
          <a:p>
            <a:pPr algn="just"/>
            <a:r>
              <a:rPr lang="en-US" altLang="en-US" sz="2000" dirty="0"/>
              <a:t>• Digital Twin Integration – Create virtual machine models for simulation and condition monitoring.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dirty="0"/>
              <a:t> </a:t>
            </a:r>
            <a:r>
              <a:rPr lang="en-US" altLang="en-US" dirty="0">
                <a:sym typeface="+mn-ea"/>
              </a:rPr>
              <a:t>Conclusion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732155" y="1387475"/>
            <a:ext cx="9119870" cy="362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2000" dirty="0"/>
              <a:t>• Developed RoboPulse AI for predictive maintenance and process intelligence.</a:t>
            </a:r>
          </a:p>
          <a:p>
            <a:pPr algn="just"/>
            <a:r>
              <a:rPr lang="en-US" altLang="en-US" sz="2000" dirty="0"/>
              <a:t>• Integrated Streamlit, FastAPI, SQLite, SQLAlchemy, and Machine Learning into one application.</a:t>
            </a:r>
          </a:p>
          <a:p>
            <a:pPr algn="just"/>
            <a:r>
              <a:rPr lang="en-US" altLang="en-US" sz="2000" dirty="0"/>
              <a:t>• Enables centralized robot monitoring and telemetry management.</a:t>
            </a:r>
          </a:p>
          <a:p>
            <a:pPr algn="just"/>
            <a:r>
              <a:rPr lang="en-US" altLang="en-US" sz="2000" dirty="0"/>
              <a:t>• Provides AI-based prediction of potential protective-stop conditions.</a:t>
            </a:r>
          </a:p>
          <a:p>
            <a:pPr algn="just"/>
            <a:r>
              <a:rPr lang="en-US" altLang="en-US" sz="2000" dirty="0"/>
              <a:t>• Supports maintenance, incident, inventory, and notification management.</a:t>
            </a:r>
          </a:p>
          <a:p>
            <a:pPr algn="just"/>
            <a:r>
              <a:rPr lang="en-US" altLang="en-US" sz="2000" dirty="0"/>
              <a:t>• Presents machine information and prediction results through an interactive dashboard.</a:t>
            </a:r>
          </a:p>
          <a:p>
            <a:pPr algn="just"/>
            <a:r>
              <a:rPr lang="en-US" altLang="en-US" sz="2000" dirty="0"/>
              <a:t>• Helps identify potential machine problems for timely maintenance and intervention.</a:t>
            </a:r>
          </a:p>
          <a:p>
            <a:pPr algn="just"/>
            <a:r>
              <a:rPr lang="en-US" altLang="en-US" sz="2000" dirty="0"/>
              <a:t>• Provides a foundation for real-time, IoT-enabled, and intelligent industrial maintenance.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dirty="0"/>
              <a:t> </a:t>
            </a:r>
            <a:endParaRPr lang="en-US" altLang="en-US" dirty="0"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732155" y="1387475"/>
            <a:ext cx="9119870" cy="362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endParaRPr lang="en-US" altLang="en-US" sz="2000" dirty="0"/>
          </a:p>
        </p:txBody>
      </p:sp>
      <p:pic>
        <p:nvPicPr>
          <p:cNvPr id="4" name="Picture 3" descr="pp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40" y="140970"/>
            <a:ext cx="11403330" cy="65512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5*537"/>
  <p:tag name="TABLE_ENDDRAG_RECT" val="37*104*885*5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1414</Words>
  <Application>Microsoft Office PowerPoint</Application>
  <PresentationFormat>Widescreen</PresentationFormat>
  <Paragraphs>160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abhi saini</cp:lastModifiedBy>
  <cp:revision>10</cp:revision>
  <dcterms:created xsi:type="dcterms:W3CDTF">2013-01-27T09:14:00Z</dcterms:created>
  <dcterms:modified xsi:type="dcterms:W3CDTF">2026-09-22T16:44:27Z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C00F1EDAAE3148EEAEA4ECB72CC0577E_13</vt:lpwstr>
  </property>
  <property fmtid="{D5CDD505-2E9C-101B-9397-08002B2CF9AE}" pid="3" name="KSOProductBuildVer">
    <vt:lpwstr>1033-12.1.0.28485</vt:lpwstr>
  </property>
</Properties>
</file>